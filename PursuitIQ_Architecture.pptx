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Segoe UI"/>
              </a:defRPr>
            </a:pPr>
            <a:r>
              <a:t>PursuitIQ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A78BFA"/>
                </a:solidFill>
                <a:latin typeface="Segoe UI"/>
              </a:defRPr>
            </a:pPr>
            <a:r>
              <a:t>Pursuit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  <a:latin typeface="Segoe UI"/>
              </a:defRPr>
            </a:pPr>
            <a:r>
              <a:t>11 Autonomous AI Agents  •  Fan-Out Parallel Execution  •  Under 8 Minutes</a:t>
            </a:r>
            <a:br/>
            <a:r>
              <a:t>Real-Time Web Intelligence  •  GPT-5.5  •  7 OpenAI Platform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56692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  <a:latin typeface="Segoe UI"/>
              </a:defRPr>
            </a:pPr>
            <a:r>
              <a:t>HCLTech Hackathon 2026  •  Enterprise AI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What If You Had 11 AI Researchers on Every Deal?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303520" cy="50292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Segoe UI"/>
              </a:defRPr>
            </a:pPr>
            <a:r>
              <a:t>• Pursuit teams spend 3–5 DAYS on research</a:t>
            </a:r>
            <a:br/>
            <a:r>
              <a:t>  before writing a single line</a:t>
            </a:r>
            <a:br/>
            <a:br/>
            <a:r>
              <a:t>• Client intel — manual web trawling</a:t>
            </a:r>
            <a:br/>
            <a:br/>
            <a:r>
              <a:t>• Competitor tracking — outdated databases</a:t>
            </a:r>
            <a:br/>
            <a:br/>
            <a:r>
              <a:t>• Pricing — last quarter's spreadsheets</a:t>
            </a:r>
            <a:br/>
            <a:br/>
            <a:r>
              <a:t>• RFP decoding — skim-reading 100+ pages</a:t>
            </a:r>
            <a:br/>
            <a:br/>
            <a:r>
              <a:t>• Hidden disqualifiers — MISSED entirely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188720"/>
            <a:ext cx="5303520" cy="50292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371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PURSUITIQ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0116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• 11 AI agents running in PARALLEL</a:t>
            </a:r>
            <a:br/>
            <a:br/>
            <a:r>
              <a:t>• Live web search — not stale data</a:t>
            </a:r>
            <a:br/>
            <a:br/>
            <a:r>
              <a:t>• Real Azure + AWS pricing APIs</a:t>
            </a:r>
            <a:br/>
            <a:br/>
            <a:r>
              <a:t>• Ghost bids — simulate competitor proposals</a:t>
            </a:r>
            <a:br/>
            <a:br/>
            <a:r>
              <a:t>• Hidden disqualifiers found on page 47</a:t>
            </a:r>
            <a:br/>
            <a:br/>
            <a:r>
              <a:t>• Under 8 minutes  •  Under $6 per run</a:t>
            </a:r>
            <a:br/>
            <a:br/>
            <a:r>
              <a:t>• Your team gets a 3-day head start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Under 8 Minutes — Your Team Gets This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3474720" cy="237744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7C3AED"/>
                </a:solidFill>
                <a:latin typeface="Segoe UI"/>
              </a:defRPr>
            </a:pPr>
            <a:r>
              <a:t>RFP Decoded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Every requirement, hidden</a:t>
            </a:r>
            <a:br/>
            <a:r>
              <a:t>disqualifier, evaluation weight,</a:t>
            </a:r>
            <a:br/>
            <a:r>
              <a:t>deadline — nothing missed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188720"/>
            <a:ext cx="3474720" cy="237744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3716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Client Signals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92024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Live web search — leadership</a:t>
            </a:r>
            <a:br/>
            <a:r>
              <a:t>changes, hiring patterns,</a:t>
            </a:r>
            <a:br/>
            <a:r>
              <a:t>earnings, strategy moves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188720"/>
            <a:ext cx="3474720" cy="237744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3716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F4444"/>
                </a:solidFill>
                <a:latin typeface="Segoe UI"/>
              </a:defRPr>
            </a:pPr>
            <a:r>
              <a:t>Competitor Playbook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92024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Who's bidding, strengths,</a:t>
            </a:r>
            <a:br/>
            <a:r>
              <a:t>predicted positioning,</a:t>
            </a:r>
            <a:br/>
            <a:r>
              <a:t>simulated ghost bids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31920"/>
            <a:ext cx="3474720" cy="237744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114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0B981"/>
                </a:solidFill>
                <a:latin typeface="Segoe UI"/>
              </a:defRPr>
            </a:pPr>
            <a:r>
              <a:t>Real-Time Pricing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66344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Live Azure + AWS rates</a:t>
            </a:r>
            <a:br/>
            <a:r>
              <a:t>from APIs — 3 options</a:t>
            </a:r>
            <a:br/>
            <a:r>
              <a:t>with cost breakdowns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3931920"/>
            <a:ext cx="3474720" cy="237744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4114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59E0B"/>
                </a:solidFill>
                <a:latin typeface="Segoe UI"/>
              </a:defRPr>
            </a:pPr>
            <a:r>
              <a:t>Win Strategy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66344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Killer differentiators,</a:t>
            </a:r>
            <a:br/>
            <a:r>
              <a:t>win themes, how to beat</a:t>
            </a:r>
            <a:br/>
            <a:r>
              <a:t>each competitor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3931920"/>
            <a:ext cx="3474720" cy="237744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4114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A78BFA"/>
                </a:solidFill>
                <a:latin typeface="Segoe UI"/>
              </a:defRPr>
            </a:pPr>
            <a:r>
              <a:t>Proposal Draft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466344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All intelligence structured</a:t>
            </a:r>
            <a:br/>
            <a:r>
              <a:t>into a draft — writers</a:t>
            </a:r>
            <a:br/>
            <a:r>
              <a:t>start with substance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11-Agent Architecture — Fan-Out Parallel Execution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0" y="594360"/>
            <a:ext cx="2194560" cy="4114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UPLOAD RFP (PDF/DOCX)</a:t>
            </a:r>
          </a:p>
        </p:txBody>
      </p:sp>
      <p:sp>
        <p:nvSpPr>
          <p:cNvPr id="4" name="Down Arrow 3"/>
          <p:cNvSpPr/>
          <p:nvPr/>
        </p:nvSpPr>
        <p:spPr>
          <a:xfrm>
            <a:off x="5989320" y="1024128"/>
            <a:ext cx="274320" cy="201168"/>
          </a:xfrm>
          <a:prstGeom prst="downArrow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89120" y="1252728"/>
            <a:ext cx="3474720" cy="5029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>
              <a:defRPr sz="800" b="0">
                <a:solidFill>
                  <a:srgbClr val="FFFFFF"/>
                </a:solidFill>
                <a:latin typeface="Segoe UI"/>
              </a:defRPr>
            </a:pPr>
            <a:r>
              <a:t>AGENT 1: RFP DECOMPOSER</a:t>
            </a:r>
            <a:br/>
            <a:r>
              <a:t>GPT-5.5 | Structured Outputs | reasoning: MEDIUM</a:t>
            </a:r>
          </a:p>
        </p:txBody>
      </p:sp>
      <p:sp>
        <p:nvSpPr>
          <p:cNvPr id="6" name="Down Arrow 5"/>
          <p:cNvSpPr/>
          <p:nvPr/>
        </p:nvSpPr>
        <p:spPr>
          <a:xfrm>
            <a:off x="5989320" y="1783080"/>
            <a:ext cx="274320" cy="201168"/>
          </a:xfrm>
          <a:prstGeom prst="downArrow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0" y="2011680"/>
            <a:ext cx="2560320" cy="4572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>
              <a:defRPr sz="800" b="0">
                <a:solidFill>
                  <a:srgbClr val="FFFFFF"/>
                </a:solidFill>
                <a:latin typeface="Segoe UI"/>
              </a:defRPr>
            </a:pPr>
            <a:r>
              <a:t>PLANNER AGENT</a:t>
            </a:r>
            <a:br/>
            <a:r>
              <a:t>Autonomous Strategy Decisions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2011680"/>
            <a:ext cx="2560320" cy="4572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>
              <a:defRPr sz="800" b="0">
                <a:solidFill>
                  <a:srgbClr val="FFFFFF"/>
                </a:solidFill>
                <a:latin typeface="Segoe UI"/>
              </a:defRPr>
            </a:pPr>
            <a:r>
              <a:t>PRE-FETCH</a:t>
            </a:r>
            <a:br/>
            <a:r>
              <a:t>SEC EDGAR | UK Contracts | US SAM.gov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2057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9CA3AF"/>
                </a:solidFill>
                <a:latin typeface="Segoe UI"/>
              </a:defRPr>
            </a:pPr>
            <a:r>
              <a:t>PHASE 1.5</a:t>
            </a:r>
            <a:br/>
            <a:r>
              <a:t>[30-70s]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12984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9CA3AF"/>
                </a:solidFill>
                <a:latin typeface="Segoe UI"/>
              </a:defRPr>
            </a:pPr>
            <a:r>
              <a:t>PHASE 1</a:t>
            </a:r>
            <a:br/>
            <a:r>
              <a:t>[0-30s]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989320" y="2496312"/>
            <a:ext cx="274320" cy="201168"/>
          </a:xfrm>
          <a:prstGeom prst="downArrow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" y="2743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9CA3AF"/>
                </a:solidFill>
                <a:latin typeface="Segoe UI"/>
              </a:defRPr>
            </a:pPr>
            <a:r>
              <a:t>PHASE 2</a:t>
            </a:r>
            <a:br/>
            <a:r>
              <a:t>[70-160s]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7157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0B981"/>
                </a:solidFill>
                <a:latin typeface="Segoe UI"/>
              </a:defRPr>
            </a:pPr>
            <a:r>
              <a:t>═══ PARALLEL FAN-OUT ═══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3017520"/>
            <a:ext cx="1920240" cy="9144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>
              <a:defRPr sz="750" b="0">
                <a:solidFill>
                  <a:srgbClr val="FFFFFF"/>
                </a:solidFill>
                <a:latin typeface="Segoe UI"/>
              </a:defRPr>
            </a:pPr>
            <a:r>
              <a:t>AGENT 2</a:t>
            </a:r>
            <a:br/>
            <a:r>
              <a:t>Win Intelligence</a:t>
            </a:r>
            <a:br/>
            <a:r>
              <a:t>File Search (RAG)</a:t>
            </a:r>
            <a:br/>
            <a:r>
              <a:t>Vector Store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3017520"/>
            <a:ext cx="1920240" cy="9144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>
              <a:defRPr sz="750" b="0">
                <a:solidFill>
                  <a:srgbClr val="FFFFFF"/>
                </a:solidFill>
                <a:latin typeface="Segoe UI"/>
              </a:defRPr>
            </a:pPr>
            <a:r>
              <a:t>AGENT 3</a:t>
            </a:r>
            <a:br/>
            <a:r>
              <a:t>Client Intel</a:t>
            </a:r>
            <a:br/>
            <a:r>
              <a:t>Web Search</a:t>
            </a:r>
            <a:br/>
            <a:r>
              <a:t>(Live Web)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0" y="3017520"/>
            <a:ext cx="1920240" cy="9144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>
              <a:defRPr sz="750" b="0">
                <a:solidFill>
                  <a:srgbClr val="FFFFFF"/>
                </a:solidFill>
                <a:latin typeface="Segoe UI"/>
              </a:defRPr>
            </a:pPr>
            <a:r>
              <a:t>AGENT 4</a:t>
            </a:r>
            <a:br/>
            <a:r>
              <a:t>Competitor</a:t>
            </a:r>
            <a:br/>
            <a:r>
              <a:t>War Room</a:t>
            </a:r>
            <a:br/>
            <a:r>
              <a:t>Web + SEC + Jobs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3017520"/>
            <a:ext cx="1920240" cy="9144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>
              <a:defRPr sz="750" b="0">
                <a:solidFill>
                  <a:srgbClr val="FFFFFF"/>
                </a:solidFill>
                <a:latin typeface="Segoe UI"/>
              </a:defRPr>
            </a:pPr>
            <a:r>
              <a:t>DEAL</a:t>
            </a:r>
            <a:br/>
            <a:r>
              <a:t>FINGERPRINT</a:t>
            </a:r>
            <a:br/>
            <a:r>
              <a:t>Pattern Match</a:t>
            </a:r>
            <a:br/>
            <a:r>
              <a:t>Procurement DB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3017520"/>
            <a:ext cx="1920240" cy="9144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>
              <a:defRPr sz="750" b="0">
                <a:solidFill>
                  <a:srgbClr val="FFFFFF"/>
                </a:solidFill>
                <a:latin typeface="Segoe UI"/>
              </a:defRPr>
            </a:pPr>
            <a:r>
              <a:t>JOB INTEL</a:t>
            </a:r>
            <a:br/>
            <a:r>
              <a:t>LinkedIn/Indeed</a:t>
            </a:r>
            <a:br/>
            <a:r>
              <a:t>Staffing Signals</a:t>
            </a:r>
            <a:br/>
            <a:r>
              <a:t>(Enrichment)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989320" y="3977639"/>
            <a:ext cx="274320" cy="201168"/>
          </a:xfrm>
          <a:prstGeom prst="downArrow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0" y="4206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9CA3AF"/>
                </a:solidFill>
                <a:latin typeface="Segoe UI"/>
              </a:defRPr>
            </a:pPr>
            <a:r>
              <a:t>PHASE 3</a:t>
            </a:r>
            <a:br/>
            <a:r>
              <a:t>[160-250s]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1879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0B981"/>
                </a:solidFill>
                <a:latin typeface="Segoe UI"/>
              </a:defRPr>
            </a:pPr>
            <a:r>
              <a:t>═══ PARALLEL FAN-OUT ═══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45920" y="4480560"/>
            <a:ext cx="2286000" cy="9144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>
              <a:defRPr sz="750" b="0">
                <a:solidFill>
                  <a:srgbClr val="FFFFFF"/>
                </a:solidFill>
                <a:latin typeface="Segoe UI"/>
              </a:defRPr>
            </a:pPr>
            <a:r>
              <a:t>AGENT 5</a:t>
            </a:r>
            <a:br/>
            <a:r>
              <a:t>Solution + Pricing</a:t>
            </a:r>
            <a:br/>
            <a:r>
              <a:t>Azure/AWS Live APIs</a:t>
            </a:r>
            <a:br/>
            <a:r>
              <a:t>reasoning: HIGH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0" y="4480560"/>
            <a:ext cx="2286000" cy="9144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>
              <a:defRPr sz="750" b="0">
                <a:solidFill>
                  <a:srgbClr val="FFFFFF"/>
                </a:solidFill>
                <a:latin typeface="Segoe UI"/>
              </a:defRPr>
            </a:pPr>
            <a:r>
              <a:t>AGENT 6</a:t>
            </a:r>
            <a:br/>
            <a:r>
              <a:t>Proposal Draft</a:t>
            </a:r>
            <a:br/>
            <a:r>
              <a:t>Codex CLI (GPT-5)</a:t>
            </a:r>
            <a:br/>
            <a:r>
              <a:t>Zero API Cost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0" y="4480560"/>
            <a:ext cx="2286000" cy="9144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>
              <a:defRPr sz="750" b="0">
                <a:solidFill>
                  <a:srgbClr val="FFFFFF"/>
                </a:solidFill>
                <a:latin typeface="Segoe UI"/>
              </a:defRPr>
            </a:pPr>
            <a:r>
              <a:t>GHOST BID</a:t>
            </a:r>
            <a:br/>
            <a:r>
              <a:t>Simulation</a:t>
            </a:r>
            <a:br/>
            <a:r>
              <a:t>Red Team Analysis</a:t>
            </a:r>
            <a:br/>
            <a:r>
              <a:t>Write Their Proposal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60" y="4480560"/>
            <a:ext cx="2286000" cy="9144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>
              <a:defRPr sz="750" b="0">
                <a:solidFill>
                  <a:srgbClr val="FFFFFF"/>
                </a:solidFill>
                <a:latin typeface="Segoe UI"/>
              </a:defRPr>
            </a:pPr>
            <a:r>
              <a:t>QUALITY GATE</a:t>
            </a:r>
            <a:br/>
            <a:r>
              <a:t>Autonomous Evaluator</a:t>
            </a:r>
            <a:br/>
            <a:r>
              <a:t>Accept / Retry / Deepen</a:t>
            </a:r>
            <a:br/>
            <a:r>
              <a:t>Triggers Re-runs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5989320" y="5440680"/>
            <a:ext cx="274320" cy="182880"/>
          </a:xfrm>
          <a:prstGeom prst="downArrow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2880" y="5623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9CA3AF"/>
                </a:solidFill>
                <a:latin typeface="Segoe UI"/>
              </a:defRPr>
            </a:pPr>
            <a:r>
              <a:t>POST-3</a:t>
            </a:r>
            <a:br/>
            <a:r>
              <a:t>Conditional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931920" y="5650992"/>
            <a:ext cx="4297680" cy="438912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>
              <a:defRPr sz="800" b="0">
                <a:solidFill>
                  <a:srgbClr val="FFFFFF"/>
                </a:solidFill>
                <a:latin typeface="Segoe UI"/>
              </a:defRPr>
            </a:pPr>
            <a:r>
              <a:t>REFLECTION LOOP — Self-Correction (if pricing sanity fails) → Re-runs Agent 5 autonomously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5989320" y="6126480"/>
            <a:ext cx="274320" cy="182880"/>
          </a:xfrm>
          <a:prstGeom prst="downArrow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200400" y="6355080"/>
            <a:ext cx="5760720" cy="4114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PURSUIT INTELLIGENCE → Your Team Takes Over (Auto-Learn → Knowledge Base)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64922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A78BFA"/>
                </a:solidFill>
                <a:latin typeface="Segoe UI"/>
              </a:defRPr>
            </a:pPr>
            <a:r>
              <a:t>Structured Outputs  |  Web Search  |  File Search  |  Vector Stores  |  Reasoning Control  |  Multi-Model  |  Codex CLI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11 Agents — Models, Tools, and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78BFA"/>
                </a:solidFill>
                <a:latin typeface="Segoe UI"/>
              </a:defRPr>
            </a:pPr>
            <a:r>
              <a:t>#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822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78BFA"/>
                </a:solidFill>
                <a:latin typeface="Segoe UI"/>
              </a:defRPr>
            </a:pPr>
            <a:r>
              <a:t>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8229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78BFA"/>
                </a:solidFill>
                <a:latin typeface="Segoe UI"/>
              </a:defRPr>
            </a:pPr>
            <a:r>
              <a:t>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8229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78BFA"/>
                </a:solidFill>
                <a:latin typeface="Segoe UI"/>
              </a:defRPr>
            </a:pPr>
            <a:r>
              <a:t>Reasoning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822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78BFA"/>
                </a:solidFill>
                <a:latin typeface="Segoe UI"/>
              </a:defRPr>
            </a:pPr>
            <a:r>
              <a:t>Tools / APIs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8229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78BFA"/>
                </a:solidFill>
                <a:latin typeface="Segoe UI"/>
              </a:defRPr>
            </a:pPr>
            <a:r>
              <a:t>Phase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143000"/>
            <a:ext cx="8595360" cy="1905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23444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234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RFP Decomposer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23444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GPT-5.5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123444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MEDIUM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2344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Structured Outputs (parse)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23444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Phase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170992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170992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Planner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170992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GPT-5.5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1709928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MEDIUM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170992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Structured Outputs (parse)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709928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Phase 1.5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2185416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2185416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Win Intelligence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2185416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GPT-5.5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2185416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MEDIUM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218541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File Search, Azure AI Search, 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2185416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Phase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2660904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266090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Client Intelligence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2660904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GPT-5.5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2660904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MEDIUM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266090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Web Search (Responses API)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2660904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Phase 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3136392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313639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Competitor War Room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080" y="3136392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GPT-5.5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3136392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MEDIUM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313639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Web Search, SEC EDGAR, Jobs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13639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Phase 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361188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" y="36118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Deal Fingerprint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26080" y="361188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GPT-5.5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0" y="361188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MEDIUM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0" y="36118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Procurement DBs, Knowledge Base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361188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Phase 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408736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" y="40873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Solution + Pricing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26080" y="408736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GPT-5.5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0" y="4087368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HIGH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0" y="408736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Azure API, AWS API, KB, Procurement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4087368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Phase 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" y="4562856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7280" y="4562856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Proposal Draft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926080" y="4562856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GPT-5 (Codex)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14800" y="4562856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MEDIUM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0" y="456285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Codex CLI, KB Style Templates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0" y="4562856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Phase 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" y="5038344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97280" y="503834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Ghost Bid Simulation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926080" y="5038344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GPT-5.5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14800" y="5038344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MEDIUM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29200" y="503834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Financial data, Job intel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29600" y="5038344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Phase 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1520" y="5513832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97280" y="551383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Quality Gate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926080" y="5513832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GPT-5.5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114800" y="5513832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MEDIUM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29200" y="551383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Evaluator (no tools)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29600" y="551383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Phase 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1520" y="598932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97280" y="59893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Reflection Loop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926080" y="598932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GPT-5.5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114800" y="598932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HIGH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029200" y="59893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Self-assessment (conditional)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229600" y="598932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Segoe UI"/>
              </a:defRPr>
            </a:pPr>
            <a:r>
              <a:t>Post-3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7 OpenAI Platform Features in Production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486400" cy="123444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C3AED"/>
                </a:solidFill>
                <a:latin typeface="Segoe UI"/>
              </a:defRPr>
            </a:pPr>
            <a:r>
              <a:t>1. Structured 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response_format=Pydantic — enforces typed JSON.</a:t>
            </a:r>
            <a:br/>
            <a:r>
              <a:t>Zero free text between agents. Schema-validated contracts.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097280"/>
            <a:ext cx="5486400" cy="123444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2. Web 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55448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Responses API with web_search tool.</a:t>
            </a:r>
            <a:br/>
            <a:r>
              <a:t>Live client signals, competitor news, earnings calls.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514600"/>
            <a:ext cx="5486400" cy="123444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3. File Search (RAG)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718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Responses API with file_search tool.</a:t>
            </a:r>
            <a:br/>
            <a:r>
              <a:t>RAG over 100+ historical deals in Vector Store.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514600"/>
            <a:ext cx="5486400" cy="123444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6060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Segoe UI"/>
              </a:defRPr>
            </a:pPr>
            <a:r>
              <a:t>4. Vector Stores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9718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Persistent embeddings of deal corpus.</a:t>
            </a:r>
            <a:br/>
            <a:r>
              <a:t>Similarity matching for win patterns.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931920"/>
            <a:ext cx="5486400" cy="123444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0233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78BFA"/>
                </a:solidFill>
                <a:latin typeface="Segoe UI"/>
              </a:defRPr>
            </a:pPr>
            <a:r>
              <a:t>5. Reasoning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38912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reasoning_effort = low / medium / high.</a:t>
            </a:r>
            <a:br/>
            <a:r>
              <a:t>Right compute per task complexity.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931920"/>
            <a:ext cx="5486400" cy="123444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40233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  <a:latin typeface="Segoe UI"/>
              </a:defRPr>
            </a:pPr>
            <a:r>
              <a:t>6. Multi-Model Routing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38912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GPT-5.5 (agents) + GPT-5 (Codex) + GPT-4.1-mini (light).</a:t>
            </a:r>
            <a:br/>
            <a:r>
              <a:t>Optimal cost/capability per agent.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349240"/>
            <a:ext cx="5486400" cy="123444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4406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7. Codex CLI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80644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GPT-5 via ChatGPT subscription — zero API cost.</a:t>
            </a:r>
            <a:br/>
            <a:r>
              <a:t>Agent 6 proposal drafting (primary path).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Anti-Hallucination Stack &amp; Autonomous Behaviors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Segoe UI"/>
              </a:defRPr>
            </a:pPr>
            <a:r>
              <a:t>5-Layer Anti-Hallucination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Layer 1: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Structured Outputs — agents cannot return free-form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Layer 2: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920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Per-agent anti-hallucination rules in system prompts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Layer 3: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377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Quality Gate — evaluates and can trigger re-runs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Layer 4: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Reflection Loop — pricing self-correction on sanity failure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918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Layer 5: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291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Verifier — cross-checks all claims against data sources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Segoe UI"/>
              </a:defRPr>
            </a:pPr>
            <a:r>
              <a:t>Agentic Autonomous Behaviors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• Planner autonomously identifies competitors (not hardcoded)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9019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• Client Intel falls back to RFP inference if web search empty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34086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• Reflection detects magnitude errors → re-runs pricing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77977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• Quality Gate issues accept / retry / deepen verdicts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21868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• Orchestrator times out slow agents, proceeds with available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657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• Auto-Learn: every pursuit feeds back into knowledge 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09651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• Win Intel caps confidence when evidence is sparse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53542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• Ghost Bid writes competitor proposals before they do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846320"/>
            <a:ext cx="11247120" cy="16459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937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Fault Tolerance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0352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• OpenAI client: max_retries=2 + Tenacity (3 attempts, exponential backoff 2s→30s)</a:t>
            </a:r>
            <a:br/>
            <a:r>
              <a:t>• Retries on: 429 Rate Limit, API Timeout, Connection Error</a:t>
            </a:r>
            <a:br/>
            <a:r>
              <a:t>• Per-phase timeout: 300s — slow agents skipped, pipeline continues</a:t>
            </a:r>
            <a:br/>
            <a:r>
              <a:t>• Critical agents (2, 3): failure halts pipeline  •  Non-critical (Fingerprint, Ghost Bid): failure logged, skipped</a:t>
            </a:r>
            <a:br/>
            <a:r>
              <a:t>• Codex CLI unavailable → automatic fallback to OpenAI API (GPT-5.5)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Technology Stack &amp;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Frontend: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371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Next.js 15, React 19, Tailwind CSS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5564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API: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75564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FastAPI (Python), Uvicorn ASGI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3969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AI Engine: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13969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OpenAI GPT-5.5 + GPT-5 (Codex CLI)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2374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Orchestration: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52374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ThreadPoolExecutor (6 workers, fan-out)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07791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Schemas: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907791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Pydantic v2 + Structured Outputs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2918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RAG: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2918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OpenAI Vector Stores + Azure AI 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675887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Knowledge: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3675887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Azure Blob Storage + AI 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059935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Cloud Pricing: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4059935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Azure Retail API + AWS Pricing API (live)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443983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Procurement: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4443983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TED Europe, Contracts Finder, SAM.gov, AusTender, GeBIZ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828031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Financial: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4828031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SEC EDGAR (margins, revenue, pricing floors)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Segoe UI"/>
              </a:defRPr>
            </a:pPr>
            <a:r>
              <a:t>Cost Per Pursuit Run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1371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GPT-5.5 (10 agents)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1371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~$5.00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17556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Codex CLI / GPT-5 (Agent 6)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175564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$0.00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213969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Azure/AWS Pricing APIs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213969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$0.00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252374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OpenAI Web Search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25237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~$0.30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2907791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File Search (Vector Store)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2907791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~$0.10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3291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Procurement APIs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0" y="3291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$0.00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3675887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</a:p>
        </p:txBody>
      </p:sp>
      <p:sp>
        <p:nvSpPr>
          <p:cNvPr id="38" name="TextBox 37"/>
          <p:cNvSpPr txBox="1"/>
          <p:nvPr/>
        </p:nvSpPr>
        <p:spPr>
          <a:xfrm>
            <a:off x="9784080" y="3675887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Segoe UI"/>
              </a:defRPr>
            </a:pPr>
          </a:p>
        </p:txBody>
      </p:sp>
      <p:sp>
        <p:nvSpPr>
          <p:cNvPr id="39" name="TextBox 38"/>
          <p:cNvSpPr txBox="1"/>
          <p:nvPr/>
        </p:nvSpPr>
        <p:spPr>
          <a:xfrm>
            <a:off x="6583680" y="4059935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TOTAL PER PURSUIT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4080" y="4059935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~$5.50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0" y="4572000"/>
            <a:ext cx="5029200" cy="18288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7512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ROI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5120" y="50292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Manual research: 3–5 days × multiple people</a:t>
            </a:r>
            <a:br/>
            <a:r>
              <a:t>PursuitIQ: Under 8 minutes × $5.50</a:t>
            </a:r>
            <a:br/>
            <a:br/>
            <a:r>
              <a:t>That's a 500x speed improvement</a:t>
            </a:r>
            <a:br/>
            <a:r>
              <a:t>for less than the cost of a coffee.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11 Agents. 7 OpenAI Features.</a:t>
            </a:r>
            <a:br/>
            <a:r>
              <a:t>Fully Autonomous.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474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78BFA"/>
                </a:solidFill>
                <a:latin typeface="Segoe UI"/>
              </a:defRPr>
            </a:pPr>
            <a:r>
              <a:t>Under 8 minutes  •  Under $6  •  3-day head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  <a:latin typeface="Segoe UI"/>
              </a:defRPr>
            </a:pPr>
            <a:r>
              <a:t>Your team still decides. Still strategizes. Still writes.</a:t>
            </a:r>
            <a:br/>
            <a:r>
              <a:t>They just start with days of research already done.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5943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  <a:latin typeface="Segoe UI"/>
              </a:defRPr>
            </a:pPr>
            <a:r>
              <a:t>PursuitIQ — Pursuit Intelligence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